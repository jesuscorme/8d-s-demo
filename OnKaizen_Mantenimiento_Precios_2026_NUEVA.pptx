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de la información: el equipo reporta su horómetro, el plan preventivo genera la OT, el técnico la ejecuta y registra repuestos, almacén descuenta stock y pide compras, y el dashboard consolida todo. El historial vuelve a ajustar el plan preventivo.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Vista calendario del módulo preventivo. Cada plan se define por horas, kilómetros o fecha; a la derecha, los equipos más cerca de su vencimiento según horómetro, con botón para generar la 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Reporte de costo de repuestos: cada repuesto que sale del almacén hacia una OT se valoriza. Se ve el costo del mes, el costo por hora operada, el ranking por equipo y el detalle por OT con IGV.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con los indicadores actuales (OTs abiertas, SLA, MTTR, OT por prioridad, próximos preventivos, equipos con más correctivas) más los nuevos: disponibilidad, cumplimiento preventivo, costo del mes, tendencia preventivo vs correctivo, costo por equipo y stock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78963"/>
          </a:solidFill>
          <a:ln w="12700">
            <a:solidFill>
              <a:srgbClr val="0789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794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5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CLOUD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92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16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RETO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585216" y="1307592"/>
            <a:ext cx="5897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31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paros. Más control.</a:t>
            </a:r>
            <a:endParaRPr lang="en-US" sz="31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31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 sin caos.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94360" y="2587752"/>
            <a:ext cx="5541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solución en la nube para gestionar maquinaria pesada, repuestos y operaciones de mantenimiento desde un solo lugar.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83864"/>
            <a:ext cx="5559552" cy="585216"/>
          </a:xfrm>
          <a:prstGeom prst="roundRect">
            <a:avLst>
              <a:gd name="adj" fmla="val 20313"/>
            </a:avLst>
          </a:prstGeom>
          <a:solidFill>
            <a:srgbClr val="F4F8F5"/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3607308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621024"/>
            <a:ext cx="3383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3584" y="356067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Órdenes dispersas</a:t>
            </a:r>
            <a:endParaRPr lang="en-US" sz="1310" dirty="0"/>
          </a:p>
        </p:txBody>
      </p:sp>
      <p:sp>
        <p:nvSpPr>
          <p:cNvPr id="14" name="Text 12"/>
          <p:cNvSpPr/>
          <p:nvPr/>
        </p:nvSpPr>
        <p:spPr>
          <a:xfrm>
            <a:off x="1243584" y="3799332"/>
            <a:ext cx="4590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Excel, papel y mensajes sin trazabilidad.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94360" y="4178808"/>
            <a:ext cx="5559552" cy="585216"/>
          </a:xfrm>
          <a:prstGeom prst="roundRect">
            <a:avLst>
              <a:gd name="adj" fmla="val 20313"/>
            </a:avLst>
          </a:prstGeom>
          <a:solidFill>
            <a:srgbClr val="F4F8F5"/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4302252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315968"/>
            <a:ext cx="3383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" y="425561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Repuestos fuera de control</a:t>
            </a:r>
            <a:endParaRPr lang="en-US" sz="1310" dirty="0"/>
          </a:p>
        </p:txBody>
      </p:sp>
      <p:sp>
        <p:nvSpPr>
          <p:cNvPr id="19" name="Text 17"/>
          <p:cNvSpPr/>
          <p:nvPr/>
        </p:nvSpPr>
        <p:spPr>
          <a:xfrm>
            <a:off x="1243584" y="4494276"/>
            <a:ext cx="4590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Faltantes, sobreinventario y compras urgentes.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94360" y="4873752"/>
            <a:ext cx="5559552" cy="585216"/>
          </a:xfrm>
          <a:prstGeom prst="roundRect">
            <a:avLst>
              <a:gd name="adj" fmla="val 20313"/>
            </a:avLst>
          </a:prstGeom>
          <a:solidFill>
            <a:srgbClr val="F4F8F5"/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997196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5010912"/>
            <a:ext cx="3383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43584" y="495056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Visibilidad limitada</a:t>
            </a:r>
            <a:endParaRPr lang="en-US" sz="1310" dirty="0"/>
          </a:p>
        </p:txBody>
      </p:sp>
      <p:sp>
        <p:nvSpPr>
          <p:cNvPr id="24" name="Text 22"/>
          <p:cNvSpPr/>
          <p:nvPr/>
        </p:nvSpPr>
        <p:spPr>
          <a:xfrm>
            <a:off x="1243584" y="5189220"/>
            <a:ext cx="4590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Poco historial para decidir y controlar costos.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547104" y="969264"/>
            <a:ext cx="5056632" cy="5248656"/>
          </a:xfrm>
          <a:prstGeom prst="roundRect">
            <a:avLst>
              <a:gd name="adj" fmla="val 4702"/>
            </a:avLst>
          </a:prstGeom>
          <a:solidFill>
            <a:srgbClr val="083D2D"/>
          </a:solidFill>
          <a:ln w="12700">
            <a:solidFill>
              <a:srgbClr val="083D2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594360"/>
            <a:ext cx="2468880" cy="2331720"/>
          </a:xfrm>
          <a:prstGeom prst="ellipse">
            <a:avLst/>
          </a:prstGeom>
          <a:solidFill>
            <a:srgbClr val="07513C">
              <a:alpha val="72000"/>
            </a:srgbClr>
          </a:solidFill>
          <a:ln w="12700">
            <a:solidFill>
              <a:srgbClr val="07513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2984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50" kern="0" dirty="0">
                <a:solidFill>
                  <a:srgbClr val="B8F0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RESPUESTA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6821424" y="167335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 la operación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conectada.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6858000" y="2788920"/>
            <a:ext cx="2039112" cy="932688"/>
          </a:xfrm>
          <a:prstGeom prst="roundRect">
            <a:avLst>
              <a:gd name="adj" fmla="val 14706"/>
            </a:avLst>
          </a:prstGeom>
          <a:solidFill>
            <a:srgbClr val="0E6249"/>
          </a:solidFill>
          <a:ln w="12700">
            <a:solidFill>
              <a:srgbClr val="0E6249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2916936"/>
            <a:ext cx="347472" cy="347472"/>
          </a:xfrm>
          <a:prstGeom prst="ellipse">
            <a:avLst/>
          </a:prstGeom>
          <a:solidFill>
            <a:srgbClr val="B8F077"/>
          </a:solidFill>
          <a:ln w="12700">
            <a:solidFill>
              <a:srgbClr val="B8F07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2930652"/>
            <a:ext cx="34747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76872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Órdenes de trabajo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6976872" y="3529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Preventivo y correctivo</a:t>
            </a:r>
            <a:endParaRPr lang="en-US" sz="835" dirty="0"/>
          </a:p>
        </p:txBody>
      </p:sp>
      <p:sp>
        <p:nvSpPr>
          <p:cNvPr id="34" name="Shape 32"/>
          <p:cNvSpPr/>
          <p:nvPr/>
        </p:nvSpPr>
        <p:spPr>
          <a:xfrm>
            <a:off x="9070848" y="2788920"/>
            <a:ext cx="2039112" cy="932688"/>
          </a:xfrm>
          <a:prstGeom prst="roundRect">
            <a:avLst>
              <a:gd name="adj" fmla="val 14706"/>
            </a:avLst>
          </a:prstGeom>
          <a:solidFill>
            <a:srgbClr val="0E6249"/>
          </a:solidFill>
          <a:ln w="12700">
            <a:solidFill>
              <a:srgbClr val="0E6249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0576" y="2916936"/>
            <a:ext cx="347472" cy="347472"/>
          </a:xfrm>
          <a:prstGeom prst="ellipse">
            <a:avLst/>
          </a:prstGeom>
          <a:solidFill>
            <a:srgbClr val="B8F077"/>
          </a:solidFill>
          <a:ln w="12700">
            <a:solidFill>
              <a:srgbClr val="B8F07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2930652"/>
            <a:ext cx="34747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8972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Almacén e inventario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9189720" y="3529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Repuestos y movimientos</a:t>
            </a:r>
            <a:endParaRPr lang="en-US" sz="835" dirty="0"/>
          </a:p>
        </p:txBody>
      </p:sp>
      <p:sp>
        <p:nvSpPr>
          <p:cNvPr id="39" name="Shape 37"/>
          <p:cNvSpPr/>
          <p:nvPr/>
        </p:nvSpPr>
        <p:spPr>
          <a:xfrm>
            <a:off x="6858000" y="3886200"/>
            <a:ext cx="2039112" cy="932688"/>
          </a:xfrm>
          <a:prstGeom prst="roundRect">
            <a:avLst>
              <a:gd name="adj" fmla="val 14706"/>
            </a:avLst>
          </a:prstGeom>
          <a:solidFill>
            <a:srgbClr val="0E6249"/>
          </a:solidFill>
          <a:ln w="12700">
            <a:solidFill>
              <a:srgbClr val="0E6249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67728" y="4014216"/>
            <a:ext cx="347472" cy="347472"/>
          </a:xfrm>
          <a:prstGeom prst="ellipse">
            <a:avLst/>
          </a:prstGeom>
          <a:solidFill>
            <a:srgbClr val="B8F077"/>
          </a:solidFill>
          <a:ln w="12700">
            <a:solidFill>
              <a:srgbClr val="B8F07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4027932"/>
            <a:ext cx="34747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76872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Solicitudes de compra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6976872" y="462686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Logística y abastecimiento</a:t>
            </a:r>
            <a:endParaRPr lang="en-US" sz="835" dirty="0"/>
          </a:p>
        </p:txBody>
      </p:sp>
      <p:sp>
        <p:nvSpPr>
          <p:cNvPr id="44" name="Shape 42"/>
          <p:cNvSpPr/>
          <p:nvPr/>
        </p:nvSpPr>
        <p:spPr>
          <a:xfrm>
            <a:off x="9070848" y="3886200"/>
            <a:ext cx="2039112" cy="932688"/>
          </a:xfrm>
          <a:prstGeom prst="roundRect">
            <a:avLst>
              <a:gd name="adj" fmla="val 14706"/>
            </a:avLst>
          </a:prstGeom>
          <a:solidFill>
            <a:srgbClr val="0E6249"/>
          </a:solidFill>
          <a:ln w="12700">
            <a:solidFill>
              <a:srgbClr val="0E6249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80576" y="4014216"/>
            <a:ext cx="347472" cy="347472"/>
          </a:xfrm>
          <a:prstGeom prst="ellipse">
            <a:avLst/>
          </a:prstGeom>
          <a:solidFill>
            <a:srgbClr val="B8F077"/>
          </a:solidFill>
          <a:ln w="12700">
            <a:solidFill>
              <a:srgbClr val="B8F07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0576" y="4027932"/>
            <a:ext cx="34747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89720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Historial y reportes</a:t>
            </a:r>
            <a:endParaRPr lang="en-US" sz="1070" dirty="0"/>
          </a:p>
        </p:txBody>
      </p:sp>
      <p:sp>
        <p:nvSpPr>
          <p:cNvPr id="48" name="Text 46"/>
          <p:cNvSpPr/>
          <p:nvPr/>
        </p:nvSpPr>
        <p:spPr>
          <a:xfrm>
            <a:off x="9189720" y="462686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 y costos</a:t>
            </a:r>
            <a:endParaRPr lang="en-US" sz="835" dirty="0"/>
          </a:p>
        </p:txBody>
      </p:sp>
      <p:sp>
        <p:nvSpPr>
          <p:cNvPr id="49" name="Shape 47"/>
          <p:cNvSpPr/>
          <p:nvPr/>
        </p:nvSpPr>
        <p:spPr>
          <a:xfrm>
            <a:off x="6876288" y="5166360"/>
            <a:ext cx="4389120" cy="0"/>
          </a:xfrm>
          <a:prstGeom prst="line">
            <a:avLst/>
          </a:prstGeom>
          <a:noFill/>
          <a:ln w="12700">
            <a:solidFill>
              <a:srgbClr val="327D6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67144" y="5431536"/>
            <a:ext cx="356616" cy="356616"/>
          </a:xfrm>
          <a:prstGeom prst="ellipse">
            <a:avLst/>
          </a:prstGeom>
          <a:solidFill>
            <a:srgbClr val="B8F077"/>
          </a:solidFill>
          <a:ln w="12700">
            <a:solidFill>
              <a:srgbClr val="B8F07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5445252"/>
            <a:ext cx="35661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33488" y="5385816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tareas manuales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333488" y="56327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trazabilidad, decisiones y productividad.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612648" y="5815584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" y="5829300"/>
            <a:ext cx="228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23544" y="5833872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5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Planeación preventiva</a:t>
            </a:r>
            <a:endParaRPr lang="en-US" sz="915" dirty="0"/>
          </a:p>
        </p:txBody>
      </p:sp>
      <p:sp>
        <p:nvSpPr>
          <p:cNvPr id="57" name="Shape 55"/>
          <p:cNvSpPr/>
          <p:nvPr/>
        </p:nvSpPr>
        <p:spPr>
          <a:xfrm>
            <a:off x="2450592" y="5815584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50592" y="5829300"/>
            <a:ext cx="228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761488" y="5833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5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Costos visibles</a:t>
            </a:r>
            <a:endParaRPr lang="en-US" sz="915" dirty="0"/>
          </a:p>
        </p:txBody>
      </p:sp>
      <p:sp>
        <p:nvSpPr>
          <p:cNvPr id="60" name="Shape 58"/>
          <p:cNvSpPr/>
          <p:nvPr/>
        </p:nvSpPr>
        <p:spPr>
          <a:xfrm>
            <a:off x="3913632" y="5815584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13632" y="5829300"/>
            <a:ext cx="228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224528" y="583387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5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 web desde cualquier lugar</a:t>
            </a:r>
            <a:endParaRPr lang="en-US" sz="915" dirty="0"/>
          </a:p>
        </p:txBody>
      </p:sp>
      <p:sp>
        <p:nvSpPr>
          <p:cNvPr id="63" name="Shape 61"/>
          <p:cNvSpPr/>
          <p:nvPr/>
        </p:nvSpPr>
        <p:spPr>
          <a:xfrm>
            <a:off x="548640" y="6537960"/>
            <a:ext cx="11091672" cy="0"/>
          </a:xfrm>
          <a:prstGeom prst="line">
            <a:avLst/>
          </a:prstGeom>
          <a:noFill/>
          <a:ln w="10160">
            <a:solidFill>
              <a:srgbClr val="DDE9E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5216" y="65836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COMERCIAL</a:t>
            </a:r>
            <a:endParaRPr lang="en-US" sz="830" dirty="0"/>
          </a:p>
        </p:txBody>
      </p:sp>
      <p:sp>
        <p:nvSpPr>
          <p:cNvPr id="65" name="Text 63"/>
          <p:cNvSpPr/>
          <p:nvPr/>
        </p:nvSpPr>
        <p:spPr>
          <a:xfrm>
            <a:off x="10853928" y="6574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/ 06</a:t>
            </a:r>
            <a:endParaRPr lang="en-US" sz="900" dirty="0"/>
          </a:p>
        </p:txBody>
      </p:sp>
      <p:pic>
        <p:nvPicPr>
          <p:cNvPr id="66" name="Logo OnKaizen" descr="Logo OnKaiz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78963"/>
          </a:solidFill>
          <a:ln w="12700">
            <a:solidFill>
              <a:srgbClr val="0789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794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5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CLOUD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372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16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PLANES Y PRECIOS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585216" y="1271016"/>
            <a:ext cx="11000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Crece a tu ritmo. Paga por capacidad.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3504" y="1819656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en la nube  ·  USD/mes equivalente con contratación anual  ·  Infraestructura incluida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94360" y="2368296"/>
            <a:ext cx="2099462" cy="2560320"/>
          </a:xfrm>
          <a:prstGeom prst="roundRect">
            <a:avLst>
              <a:gd name="adj" fmla="val 7840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688336"/>
            <a:ext cx="1715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3072384"/>
            <a:ext cx="1715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5 usuarios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86384" y="35570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786384" y="3813048"/>
            <a:ext cx="1715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6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3160" dirty="0"/>
          </a:p>
        </p:txBody>
      </p:sp>
      <p:sp>
        <p:nvSpPr>
          <p:cNvPr id="15" name="Text 13"/>
          <p:cNvSpPr/>
          <p:nvPr/>
        </p:nvSpPr>
        <p:spPr>
          <a:xfrm>
            <a:off x="786384" y="4434840"/>
            <a:ext cx="17154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mes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77240" y="4727448"/>
            <a:ext cx="1724558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21838" y="2368296"/>
            <a:ext cx="2099462" cy="2560320"/>
          </a:xfrm>
          <a:prstGeom prst="roundRect">
            <a:avLst>
              <a:gd name="adj" fmla="val 7840"/>
            </a:avLst>
          </a:prstGeom>
          <a:solidFill>
            <a:srgbClr val="083D2D"/>
          </a:solidFill>
          <a:ln w="16510">
            <a:solidFill>
              <a:srgbClr val="0789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4718" y="2194560"/>
            <a:ext cx="1733702" cy="310896"/>
          </a:xfrm>
          <a:prstGeom prst="roundRect">
            <a:avLst>
              <a:gd name="adj" fmla="val 35294"/>
            </a:avLst>
          </a:prstGeom>
          <a:solidFill>
            <a:srgbClr val="B8F077"/>
          </a:solidFill>
          <a:ln w="12700">
            <a:solidFill>
              <a:srgbClr val="B8F07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1294" y="2240280"/>
            <a:ext cx="166055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90" kern="0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RECOMENDADO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3013862" y="2688336"/>
            <a:ext cx="1715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8F0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3862" y="3072384"/>
            <a:ext cx="1715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10 usuarios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3013862" y="35570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A8D6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3013862" y="3813048"/>
            <a:ext cx="1715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149</a:t>
            </a:r>
            <a:endParaRPr lang="en-US" sz="3160" dirty="0"/>
          </a:p>
        </p:txBody>
      </p:sp>
      <p:sp>
        <p:nvSpPr>
          <p:cNvPr id="24" name="Text 22"/>
          <p:cNvSpPr/>
          <p:nvPr/>
        </p:nvSpPr>
        <p:spPr>
          <a:xfrm>
            <a:off x="3013862" y="4434840"/>
            <a:ext cx="17154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mes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3004718" y="4727448"/>
            <a:ext cx="1724558" cy="0"/>
          </a:xfrm>
          <a:prstGeom prst="line">
            <a:avLst/>
          </a:prstGeom>
          <a:noFill/>
          <a:ln w="8890">
            <a:solidFill>
              <a:srgbClr val="3678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9317" y="2368296"/>
            <a:ext cx="2099462" cy="2560320"/>
          </a:xfrm>
          <a:prstGeom prst="roundRect">
            <a:avLst>
              <a:gd name="adj" fmla="val 7840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1341" y="2688336"/>
            <a:ext cx="1715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41341" y="3072384"/>
            <a:ext cx="1715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25 usuarios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5241341" y="35570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5241341" y="3813048"/>
            <a:ext cx="1715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6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299</a:t>
            </a:r>
            <a:endParaRPr lang="en-US" sz="3160" dirty="0"/>
          </a:p>
        </p:txBody>
      </p:sp>
      <p:sp>
        <p:nvSpPr>
          <p:cNvPr id="31" name="Text 29"/>
          <p:cNvSpPr/>
          <p:nvPr/>
        </p:nvSpPr>
        <p:spPr>
          <a:xfrm>
            <a:off x="5241341" y="4434840"/>
            <a:ext cx="17154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mes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232197" y="4727448"/>
            <a:ext cx="1724558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76795" y="2368296"/>
            <a:ext cx="2099462" cy="2560320"/>
          </a:xfrm>
          <a:prstGeom prst="roundRect">
            <a:avLst>
              <a:gd name="adj" fmla="val 7840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68819" y="2688336"/>
            <a:ext cx="1715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68819" y="3072384"/>
            <a:ext cx="1715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50 usuarios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7468819" y="35570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7468819" y="3813048"/>
            <a:ext cx="1715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6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499</a:t>
            </a:r>
            <a:endParaRPr lang="en-US" sz="3160" dirty="0"/>
          </a:p>
        </p:txBody>
      </p:sp>
      <p:sp>
        <p:nvSpPr>
          <p:cNvPr id="38" name="Text 36"/>
          <p:cNvSpPr/>
          <p:nvPr/>
        </p:nvSpPr>
        <p:spPr>
          <a:xfrm>
            <a:off x="7468819" y="4434840"/>
            <a:ext cx="17154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mes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7459675" y="4727448"/>
            <a:ext cx="1724558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04274" y="2368296"/>
            <a:ext cx="2099462" cy="2560320"/>
          </a:xfrm>
          <a:prstGeom prst="roundRect">
            <a:avLst>
              <a:gd name="adj" fmla="val 7840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6298" y="2688336"/>
            <a:ext cx="1715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FLOTA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96298" y="3072384"/>
            <a:ext cx="1715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100 usuarios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9696298" y="35570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9696298" y="3813048"/>
            <a:ext cx="1715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6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899</a:t>
            </a:r>
            <a:endParaRPr lang="en-US" sz="3160" dirty="0"/>
          </a:p>
        </p:txBody>
      </p:sp>
      <p:sp>
        <p:nvSpPr>
          <p:cNvPr id="45" name="Text 43"/>
          <p:cNvSpPr/>
          <p:nvPr/>
        </p:nvSpPr>
        <p:spPr>
          <a:xfrm>
            <a:off x="9696298" y="4434840"/>
            <a:ext cx="17154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mes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9687154" y="4727448"/>
            <a:ext cx="1724558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5175504"/>
            <a:ext cx="11000232" cy="740664"/>
          </a:xfrm>
          <a:prstGeom prst="roundRect">
            <a:avLst>
              <a:gd name="adj" fmla="val 18519"/>
            </a:avLst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" y="5404104"/>
            <a:ext cx="310896" cy="310896"/>
          </a:xfrm>
          <a:prstGeom prst="ellipse">
            <a:avLst/>
          </a:prstGeom>
          <a:solidFill>
            <a:srgbClr val="078963"/>
          </a:solidFill>
          <a:ln w="12700">
            <a:solidFill>
              <a:srgbClr val="07896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" y="5417820"/>
            <a:ext cx="31089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271016" y="52852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Todos los planes incluyen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80160" y="5532120"/>
            <a:ext cx="9829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5" dirty="0">
                <a:solidFill>
                  <a:srgbClr val="075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Órdenes de trabajo  ·  Almacén  ·  Inventario  ·  Compras  ·  Historial  ·  Reportes</a:t>
            </a:r>
            <a:endParaRPr lang="en-US" sz="1015" dirty="0"/>
          </a:p>
        </p:txBody>
      </p:sp>
      <p:sp>
        <p:nvSpPr>
          <p:cNvPr id="52" name="Shape 50"/>
          <p:cNvSpPr/>
          <p:nvPr/>
        </p:nvSpPr>
        <p:spPr>
          <a:xfrm>
            <a:off x="603504" y="6053328"/>
            <a:ext cx="10972800" cy="356616"/>
          </a:xfrm>
          <a:prstGeom prst="roundRect">
            <a:avLst>
              <a:gd name="adj" fmla="val 25641"/>
            </a:avLst>
          </a:prstGeom>
          <a:solidFill>
            <a:srgbClr val="083D2D"/>
          </a:solidFill>
          <a:ln w="12700">
            <a:solidFill>
              <a:srgbClr val="083D2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610819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spc="65" kern="0" dirty="0">
                <a:solidFill>
                  <a:srgbClr val="B8F0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OFERTA CLIENTE FUNDADOR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3273552" y="6094476"/>
            <a:ext cx="7973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usuarios  ·  US$1,788/año  ·  Sin costo adicional de desarrollo estándar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6537960"/>
            <a:ext cx="11091672" cy="0"/>
          </a:xfrm>
          <a:prstGeom prst="line">
            <a:avLst/>
          </a:prstGeom>
          <a:noFill/>
          <a:ln w="10160">
            <a:solidFill>
              <a:srgbClr val="DDE9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" y="65836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COMERCIAL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10853928" y="6574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06</a:t>
            </a:r>
            <a:endParaRPr lang="en-US" sz="900" dirty="0"/>
          </a:p>
        </p:txBody>
      </p:sp>
      <p:pic>
        <p:nvPicPr>
          <p:cNvPr id="58" name="Logo OnKaizen" descr="Logo OnKaiz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78963"/>
          </a:solidFill>
          <a:ln w="12700">
            <a:solidFill>
              <a:srgbClr val="0789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794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5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CLOUD</a:t>
            </a:r>
            <a:endParaRPr lang="en-US" sz="900" dirty="0"/>
          </a:p>
        </p:txBody>
      </p:sp>
      <p:sp>
        <p:nvSpPr>
          <p:cNvPr id="7" name="Shape 53"/>
          <p:cNvSpPr/>
          <p:nvPr/>
        </p:nvSpPr>
        <p:spPr>
          <a:xfrm>
            <a:off x="548640" y="6537960"/>
            <a:ext cx="11091672" cy="0"/>
          </a:xfrm>
          <a:prstGeom prst="line">
            <a:avLst/>
          </a:prstGeom>
          <a:noFill/>
          <a:ln w="10160">
            <a:solidFill>
              <a:srgbClr val="DDE9E2"/>
            </a:solidFill>
            <a:prstDash val="solid"/>
          </a:ln>
        </p:spPr>
      </p:sp>
      <p:sp>
        <p:nvSpPr>
          <p:cNvPr id="8" name="Text 54"/>
          <p:cNvSpPr/>
          <p:nvPr/>
        </p:nvSpPr>
        <p:spPr>
          <a:xfrm>
            <a:off x="585216" y="65836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COMERCIAL</a:t>
            </a:r>
            <a:endParaRPr lang="en-US" sz="830" dirty="0"/>
          </a:p>
        </p:txBody>
      </p:sp>
      <p:sp>
        <p:nvSpPr>
          <p:cNvPr id="9" name="Text 55"/>
          <p:cNvSpPr/>
          <p:nvPr/>
        </p:nvSpPr>
        <p:spPr>
          <a:xfrm>
            <a:off x="10853928" y="6574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06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94360" y="9326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40" b="1" spc="16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FUNCIONA</a:t>
            </a:r>
            <a:endParaRPr lang="es-PE" sz="1040" dirty="0"/>
          </a:p>
        </p:txBody>
      </p:sp>
      <p:sp>
        <p:nvSpPr>
          <p:cNvPr id="11" name="Text 11"/>
          <p:cNvSpPr txBox="1"/>
          <p:nvPr/>
        </p:nvSpPr>
        <p:spPr>
          <a:xfrm>
            <a:off x="585216" y="1271016"/>
            <a:ext cx="11000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27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equipo al indicador, en un solo flujo.</a:t>
            </a:r>
            <a:endParaRPr lang="es-PE" sz="2700" dirty="0"/>
          </a:p>
        </p:txBody>
      </p:sp>
      <p:sp>
        <p:nvSpPr>
          <p:cNvPr id="12" name="Text 12"/>
          <p:cNvSpPr txBox="1"/>
          <p:nvPr/>
        </p:nvSpPr>
        <p:spPr>
          <a:xfrm>
            <a:off x="603504" y="1819656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18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Así viaja la información dentro de OnKaizen  ·  Cada paso alimenta al siguiente, sin volver a digitar</a:t>
            </a:r>
            <a:endParaRPr lang="es-PE" sz="1180" dirty="0"/>
          </a:p>
        </p:txBody>
      </p:sp>
      <p:sp>
        <p:nvSpPr>
          <p:cNvPr id="13" name="Shape 13"/>
          <p:cNvSpPr/>
          <p:nvPr/>
        </p:nvSpPr>
        <p:spPr>
          <a:xfrm>
            <a:off x="594360" y="2286000"/>
            <a:ext cx="2017166" cy="3547872"/>
          </a:xfrm>
          <a:prstGeom prst="roundRect">
            <a:avLst>
              <a:gd name="adj" fmla="val 8159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758952" y="2468880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758952" y="248259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s-PE" sz="1400" dirty="0"/>
          </a:p>
        </p:txBody>
      </p:sp>
      <p:sp>
        <p:nvSpPr>
          <p:cNvPr id="16" name="Text 16"/>
          <p:cNvSpPr txBox="1"/>
          <p:nvPr/>
        </p:nvSpPr>
        <p:spPr>
          <a:xfrm>
            <a:off x="1197864" y="2432304"/>
            <a:ext cx="1303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Equipos</a:t>
            </a:r>
            <a:endParaRPr lang="es-PE" sz="1310" dirty="0"/>
          </a:p>
        </p:txBody>
      </p:sp>
      <p:sp>
        <p:nvSpPr>
          <p:cNvPr id="17" name="Text 17"/>
          <p:cNvSpPr txBox="1"/>
          <p:nvPr/>
        </p:nvSpPr>
        <p:spPr>
          <a:xfrm>
            <a:off x="1197864" y="2670048"/>
            <a:ext cx="130393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Jefe de mantenimiento</a:t>
            </a:r>
            <a:endParaRPr lang="es-PE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758952" y="2980944"/>
            <a:ext cx="16879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la flota con su horómetro, km y ubicación.</a:t>
            </a:r>
            <a:endParaRPr lang="es-PE" sz="1070" dirty="0"/>
          </a:p>
        </p:txBody>
      </p:sp>
      <p:pic>
        <p:nvPicPr>
          <p:cNvPr id="19" name="Picture 18" descr="Vista de la interfaz: Equip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" y="3474720"/>
            <a:ext cx="1737360" cy="1146658"/>
          </a:xfrm>
          <a:prstGeom prst="rect">
            <a:avLst/>
          </a:prstGeom>
        </p:spPr>
      </p:pic>
      <p:sp>
        <p:nvSpPr>
          <p:cNvPr id="20" name="Line 20"/>
          <p:cNvSpPr/>
          <p:nvPr/>
        </p:nvSpPr>
        <p:spPr>
          <a:xfrm>
            <a:off x="758952" y="4864608"/>
            <a:ext cx="1687982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758952" y="5001768"/>
            <a:ext cx="16879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830" b="1" spc="14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ENVÍA AL PASO 02</a:t>
            </a:r>
            <a:endParaRPr lang="es-PE" sz="830" dirty="0"/>
          </a:p>
        </p:txBody>
      </p:sp>
      <p:sp>
        <p:nvSpPr>
          <p:cNvPr id="22" name="Text 22"/>
          <p:cNvSpPr txBox="1"/>
          <p:nvPr/>
        </p:nvSpPr>
        <p:spPr>
          <a:xfrm>
            <a:off x="758952" y="521208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Horas y kilómetros de uso</a:t>
            </a:r>
            <a:endParaRPr lang="es-PE" sz="1200" dirty="0"/>
          </a:p>
        </p:txBody>
      </p:sp>
      <p:sp>
        <p:nvSpPr>
          <p:cNvPr id="23" name="Shape 23"/>
          <p:cNvSpPr/>
          <p:nvPr/>
        </p:nvSpPr>
        <p:spPr>
          <a:xfrm>
            <a:off x="2570378" y="3892601"/>
            <a:ext cx="310896" cy="310896"/>
          </a:xfrm>
          <a:prstGeom prst="ellipse">
            <a:avLst/>
          </a:prstGeom>
          <a:solidFill>
            <a:srgbClr val="0789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4"/>
          <p:cNvSpPr/>
          <p:nvPr/>
        </p:nvSpPr>
        <p:spPr>
          <a:xfrm>
            <a:off x="2684678" y="3984041"/>
            <a:ext cx="100584" cy="128016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5"/>
          <p:cNvSpPr/>
          <p:nvPr/>
        </p:nvSpPr>
        <p:spPr>
          <a:xfrm>
            <a:off x="2840126" y="2286000"/>
            <a:ext cx="2017166" cy="3547872"/>
          </a:xfrm>
          <a:prstGeom prst="roundRect">
            <a:avLst>
              <a:gd name="adj" fmla="val 8159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26" name="Shape 26"/>
          <p:cNvSpPr/>
          <p:nvPr/>
        </p:nvSpPr>
        <p:spPr>
          <a:xfrm>
            <a:off x="3004718" y="2468880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3004718" y="248259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s-PE" sz="1400" dirty="0"/>
          </a:p>
        </p:txBody>
      </p:sp>
      <p:sp>
        <p:nvSpPr>
          <p:cNvPr id="28" name="Text 28"/>
          <p:cNvSpPr txBox="1"/>
          <p:nvPr/>
        </p:nvSpPr>
        <p:spPr>
          <a:xfrm>
            <a:off x="3443630" y="2432304"/>
            <a:ext cx="1303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preventivo</a:t>
            </a:r>
            <a:endParaRPr lang="es-PE" sz="1310" dirty="0"/>
          </a:p>
        </p:txBody>
      </p:sp>
      <p:sp>
        <p:nvSpPr>
          <p:cNvPr id="29" name="Text 29"/>
          <p:cNvSpPr txBox="1"/>
          <p:nvPr/>
        </p:nvSpPr>
        <p:spPr>
          <a:xfrm>
            <a:off x="3443630" y="2670048"/>
            <a:ext cx="130393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Automático</a:t>
            </a:r>
            <a:endParaRPr lang="es-PE" sz="900" dirty="0"/>
          </a:p>
        </p:txBody>
      </p:sp>
      <p:sp>
        <p:nvSpPr>
          <p:cNvPr id="30" name="Text 30"/>
          <p:cNvSpPr txBox="1"/>
          <p:nvPr/>
        </p:nvSpPr>
        <p:spPr>
          <a:xfrm>
            <a:off x="3004718" y="2980944"/>
            <a:ext cx="16879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vencer horas, km o fecha, crea la OT por ti.</a:t>
            </a:r>
            <a:endParaRPr lang="es-PE" sz="1070" dirty="0"/>
          </a:p>
        </p:txBody>
      </p:sp>
      <p:pic>
        <p:nvPicPr>
          <p:cNvPr id="31" name="Picture 30" descr="Vista de la interfaz: Plan preventiv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030" y="3474720"/>
            <a:ext cx="1737360" cy="1146658"/>
          </a:xfrm>
          <a:prstGeom prst="rect">
            <a:avLst/>
          </a:prstGeom>
        </p:spPr>
      </p:pic>
      <p:sp>
        <p:nvSpPr>
          <p:cNvPr id="32" name="Line 32"/>
          <p:cNvSpPr/>
          <p:nvPr/>
        </p:nvSpPr>
        <p:spPr>
          <a:xfrm>
            <a:off x="3004718" y="4864608"/>
            <a:ext cx="1687982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3004718" y="5001768"/>
            <a:ext cx="16879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830" b="1" spc="14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ENVÍA AL PASO 03</a:t>
            </a:r>
            <a:endParaRPr lang="es-PE" sz="830" dirty="0"/>
          </a:p>
        </p:txBody>
      </p:sp>
      <p:sp>
        <p:nvSpPr>
          <p:cNvPr id="34" name="Text 34"/>
          <p:cNvSpPr txBox="1"/>
          <p:nvPr/>
        </p:nvSpPr>
        <p:spPr>
          <a:xfrm>
            <a:off x="3004718" y="521208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 programada y asignada</a:t>
            </a:r>
            <a:endParaRPr lang="es-PE" sz="1200" dirty="0"/>
          </a:p>
        </p:txBody>
      </p:sp>
      <p:sp>
        <p:nvSpPr>
          <p:cNvPr id="35" name="Shape 35"/>
          <p:cNvSpPr/>
          <p:nvPr/>
        </p:nvSpPr>
        <p:spPr>
          <a:xfrm>
            <a:off x="4816145" y="3892601"/>
            <a:ext cx="310896" cy="310896"/>
          </a:xfrm>
          <a:prstGeom prst="ellipse">
            <a:avLst/>
          </a:prstGeom>
          <a:solidFill>
            <a:srgbClr val="0789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6"/>
          <p:cNvSpPr/>
          <p:nvPr/>
        </p:nvSpPr>
        <p:spPr>
          <a:xfrm>
            <a:off x="4930445" y="3984041"/>
            <a:ext cx="100584" cy="128016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7"/>
          <p:cNvSpPr/>
          <p:nvPr/>
        </p:nvSpPr>
        <p:spPr>
          <a:xfrm>
            <a:off x="5085893" y="2286000"/>
            <a:ext cx="2017166" cy="3547872"/>
          </a:xfrm>
          <a:prstGeom prst="roundRect">
            <a:avLst>
              <a:gd name="adj" fmla="val 8159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38" name="Shape 38"/>
          <p:cNvSpPr/>
          <p:nvPr/>
        </p:nvSpPr>
        <p:spPr>
          <a:xfrm>
            <a:off x="5250485" y="2468880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5250485" y="248259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s-PE" sz="1400" dirty="0"/>
          </a:p>
        </p:txBody>
      </p:sp>
      <p:sp>
        <p:nvSpPr>
          <p:cNvPr id="40" name="Text 40"/>
          <p:cNvSpPr txBox="1"/>
          <p:nvPr/>
        </p:nvSpPr>
        <p:spPr>
          <a:xfrm>
            <a:off x="5689397" y="2432304"/>
            <a:ext cx="1303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de trabajo</a:t>
            </a:r>
            <a:endParaRPr lang="es-PE" sz="1310" dirty="0"/>
          </a:p>
        </p:txBody>
      </p:sp>
      <p:sp>
        <p:nvSpPr>
          <p:cNvPr id="41" name="Text 41"/>
          <p:cNvSpPr txBox="1"/>
          <p:nvPr/>
        </p:nvSpPr>
        <p:spPr>
          <a:xfrm>
            <a:off x="5689397" y="2670048"/>
            <a:ext cx="130393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</a:t>
            </a:r>
            <a:endParaRPr lang="es-PE" sz="900" dirty="0"/>
          </a:p>
        </p:txBody>
      </p:sp>
      <p:sp>
        <p:nvSpPr>
          <p:cNvPr id="42" name="Text 42"/>
          <p:cNvSpPr txBox="1"/>
          <p:nvPr/>
        </p:nvSpPr>
        <p:spPr>
          <a:xfrm>
            <a:off x="5250485" y="2980944"/>
            <a:ext cx="16879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Ejecuta, registra repuestos y horas, y cierra la OT.</a:t>
            </a:r>
            <a:endParaRPr lang="es-PE" sz="1070" dirty="0"/>
          </a:p>
        </p:txBody>
      </p:sp>
      <p:pic>
        <p:nvPicPr>
          <p:cNvPr id="43" name="Picture 42" descr="Vista de la interfaz: Orden de trabaj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796" y="3474720"/>
            <a:ext cx="1737360" cy="1146658"/>
          </a:xfrm>
          <a:prstGeom prst="rect">
            <a:avLst/>
          </a:prstGeom>
        </p:spPr>
      </p:pic>
      <p:sp>
        <p:nvSpPr>
          <p:cNvPr id="44" name="Line 44"/>
          <p:cNvSpPr/>
          <p:nvPr/>
        </p:nvSpPr>
        <p:spPr>
          <a:xfrm>
            <a:off x="5250485" y="4864608"/>
            <a:ext cx="1687982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45" name="Text 45"/>
          <p:cNvSpPr txBox="1"/>
          <p:nvPr/>
        </p:nvSpPr>
        <p:spPr>
          <a:xfrm>
            <a:off x="5250485" y="5001768"/>
            <a:ext cx="16879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830" b="1" spc="14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ENVÍA AL PASO 04</a:t>
            </a:r>
            <a:endParaRPr lang="es-PE" sz="830" dirty="0"/>
          </a:p>
        </p:txBody>
      </p:sp>
      <p:sp>
        <p:nvSpPr>
          <p:cNvPr id="46" name="Text 46"/>
          <p:cNvSpPr txBox="1"/>
          <p:nvPr/>
        </p:nvSpPr>
        <p:spPr>
          <a:xfrm>
            <a:off x="5250485" y="521208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Repuestos usados y tiempos</a:t>
            </a:r>
            <a:endParaRPr lang="es-PE" sz="1200" dirty="0"/>
          </a:p>
        </p:txBody>
      </p:sp>
      <p:sp>
        <p:nvSpPr>
          <p:cNvPr id="47" name="Shape 47"/>
          <p:cNvSpPr/>
          <p:nvPr/>
        </p:nvSpPr>
        <p:spPr>
          <a:xfrm>
            <a:off x="7061911" y="3892601"/>
            <a:ext cx="310896" cy="310896"/>
          </a:xfrm>
          <a:prstGeom prst="ellipse">
            <a:avLst/>
          </a:prstGeom>
          <a:solidFill>
            <a:srgbClr val="0789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8"/>
          <p:cNvSpPr/>
          <p:nvPr/>
        </p:nvSpPr>
        <p:spPr>
          <a:xfrm>
            <a:off x="7176211" y="3984041"/>
            <a:ext cx="100584" cy="128016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9"/>
          <p:cNvSpPr/>
          <p:nvPr/>
        </p:nvSpPr>
        <p:spPr>
          <a:xfrm>
            <a:off x="7331659" y="2286000"/>
            <a:ext cx="2017166" cy="3547872"/>
          </a:xfrm>
          <a:prstGeom prst="roundRect">
            <a:avLst>
              <a:gd name="adj" fmla="val 8159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50" name="Shape 50"/>
          <p:cNvSpPr/>
          <p:nvPr/>
        </p:nvSpPr>
        <p:spPr>
          <a:xfrm>
            <a:off x="7496251" y="2468880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51" name="Text 51"/>
          <p:cNvSpPr txBox="1"/>
          <p:nvPr/>
        </p:nvSpPr>
        <p:spPr>
          <a:xfrm>
            <a:off x="7496251" y="248259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s-PE" sz="1400" dirty="0"/>
          </a:p>
        </p:txBody>
      </p:sp>
      <p:sp>
        <p:nvSpPr>
          <p:cNvPr id="52" name="Text 52"/>
          <p:cNvSpPr txBox="1"/>
          <p:nvPr/>
        </p:nvSpPr>
        <p:spPr>
          <a:xfrm>
            <a:off x="7935163" y="2432304"/>
            <a:ext cx="1303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Almacén</a:t>
            </a:r>
            <a:endParaRPr lang="es-PE" sz="1310" dirty="0"/>
          </a:p>
        </p:txBody>
      </p:sp>
      <p:sp>
        <p:nvSpPr>
          <p:cNvPr id="53" name="Text 53"/>
          <p:cNvSpPr txBox="1"/>
          <p:nvPr/>
        </p:nvSpPr>
        <p:spPr>
          <a:xfrm>
            <a:off x="7935163" y="2670048"/>
            <a:ext cx="130393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y compras</a:t>
            </a:r>
            <a:endParaRPr lang="es-PE" sz="900" dirty="0"/>
          </a:p>
        </p:txBody>
      </p:sp>
      <p:sp>
        <p:nvSpPr>
          <p:cNvPr id="54" name="Text 54"/>
          <p:cNvSpPr txBox="1"/>
          <p:nvPr/>
        </p:nvSpPr>
        <p:spPr>
          <a:xfrm>
            <a:off x="7496251" y="2980944"/>
            <a:ext cx="16879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Descuenta stock y, bajo mínimo, genera la compra.</a:t>
            </a:r>
            <a:endParaRPr lang="es-PE" sz="1070" dirty="0"/>
          </a:p>
        </p:txBody>
      </p:sp>
      <p:pic>
        <p:nvPicPr>
          <p:cNvPr id="55" name="Picture 54" descr="Vista de la interfaz: Almacé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562" y="3474720"/>
            <a:ext cx="1737360" cy="1146658"/>
          </a:xfrm>
          <a:prstGeom prst="rect">
            <a:avLst/>
          </a:prstGeom>
        </p:spPr>
      </p:pic>
      <p:sp>
        <p:nvSpPr>
          <p:cNvPr id="56" name="Line 56"/>
          <p:cNvSpPr/>
          <p:nvPr/>
        </p:nvSpPr>
        <p:spPr>
          <a:xfrm>
            <a:off x="7496251" y="4864608"/>
            <a:ext cx="1687982" cy="0"/>
          </a:xfrm>
          <a:prstGeom prst="line">
            <a:avLst/>
          </a:prstGeom>
          <a:noFill/>
          <a:ln w="8890">
            <a:solidFill>
              <a:srgbClr val="D4E4DA"/>
            </a:solidFill>
            <a:prstDash val="solid"/>
          </a:ln>
        </p:spPr>
      </p:sp>
      <p:sp>
        <p:nvSpPr>
          <p:cNvPr id="57" name="Text 57"/>
          <p:cNvSpPr txBox="1"/>
          <p:nvPr/>
        </p:nvSpPr>
        <p:spPr>
          <a:xfrm>
            <a:off x="7496251" y="5001768"/>
            <a:ext cx="16879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830" b="1" spc="14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ENVÍA AL PASO 05</a:t>
            </a:r>
            <a:endParaRPr lang="es-PE" sz="830" dirty="0"/>
          </a:p>
        </p:txBody>
      </p:sp>
      <p:sp>
        <p:nvSpPr>
          <p:cNvPr id="58" name="Text 58"/>
          <p:cNvSpPr txBox="1"/>
          <p:nvPr/>
        </p:nvSpPr>
        <p:spPr>
          <a:xfrm>
            <a:off x="7496251" y="521208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Costos y stock actualizados</a:t>
            </a:r>
            <a:endParaRPr lang="es-PE" sz="1200" dirty="0"/>
          </a:p>
        </p:txBody>
      </p:sp>
      <p:sp>
        <p:nvSpPr>
          <p:cNvPr id="59" name="Shape 59"/>
          <p:cNvSpPr/>
          <p:nvPr/>
        </p:nvSpPr>
        <p:spPr>
          <a:xfrm>
            <a:off x="9307678" y="3892601"/>
            <a:ext cx="310896" cy="310896"/>
          </a:xfrm>
          <a:prstGeom prst="ellipse">
            <a:avLst/>
          </a:prstGeom>
          <a:solidFill>
            <a:srgbClr val="0789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60"/>
          <p:cNvSpPr/>
          <p:nvPr/>
        </p:nvSpPr>
        <p:spPr>
          <a:xfrm>
            <a:off x="9421978" y="3984041"/>
            <a:ext cx="100584" cy="128016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61"/>
          <p:cNvSpPr/>
          <p:nvPr/>
        </p:nvSpPr>
        <p:spPr>
          <a:xfrm>
            <a:off x="9577426" y="2286000"/>
            <a:ext cx="2017166" cy="3547872"/>
          </a:xfrm>
          <a:prstGeom prst="roundRect">
            <a:avLst>
              <a:gd name="adj" fmla="val 8159"/>
            </a:avLst>
          </a:prstGeom>
          <a:solidFill>
            <a:srgbClr val="083D2D"/>
          </a:solidFill>
          <a:ln w="16510">
            <a:solidFill>
              <a:srgbClr val="078963"/>
            </a:solidFill>
            <a:prstDash val="solid"/>
          </a:ln>
        </p:spPr>
      </p:sp>
      <p:sp>
        <p:nvSpPr>
          <p:cNvPr id="62" name="Shape 62"/>
          <p:cNvSpPr/>
          <p:nvPr/>
        </p:nvSpPr>
        <p:spPr>
          <a:xfrm>
            <a:off x="9742018" y="2468880"/>
            <a:ext cx="338328" cy="338328"/>
          </a:xfrm>
          <a:prstGeom prst="ellipse">
            <a:avLst/>
          </a:prstGeom>
          <a:solidFill>
            <a:srgbClr val="B8F077"/>
          </a:solidFill>
          <a:ln w="12700">
            <a:solidFill>
              <a:srgbClr val="B8F077">
                <a:alpha val="0"/>
              </a:srgbClr>
            </a:solidFill>
            <a:prstDash val="solid"/>
          </a:ln>
        </p:spPr>
      </p:sp>
      <p:sp>
        <p:nvSpPr>
          <p:cNvPr id="63" name="Text 63"/>
          <p:cNvSpPr txBox="1"/>
          <p:nvPr/>
        </p:nvSpPr>
        <p:spPr>
          <a:xfrm>
            <a:off x="9742018" y="248259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s-PE" sz="1400" dirty="0"/>
          </a:p>
        </p:txBody>
      </p:sp>
      <p:sp>
        <p:nvSpPr>
          <p:cNvPr id="64" name="Text 64"/>
          <p:cNvSpPr txBox="1"/>
          <p:nvPr/>
        </p:nvSpPr>
        <p:spPr>
          <a:xfrm>
            <a:off x="10180930" y="2432304"/>
            <a:ext cx="1303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s-PE" sz="1310" dirty="0"/>
          </a:p>
        </p:txBody>
      </p:sp>
      <p:sp>
        <p:nvSpPr>
          <p:cNvPr id="65" name="Text 65"/>
          <p:cNvSpPr txBox="1"/>
          <p:nvPr/>
        </p:nvSpPr>
        <p:spPr>
          <a:xfrm>
            <a:off x="10180930" y="2670048"/>
            <a:ext cx="130393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00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Gerencia</a:t>
            </a:r>
            <a:endParaRPr lang="es-PE" sz="900" dirty="0"/>
          </a:p>
        </p:txBody>
      </p:sp>
      <p:sp>
        <p:nvSpPr>
          <p:cNvPr id="66" name="Text 66"/>
          <p:cNvSpPr txBox="1"/>
          <p:nvPr/>
        </p:nvSpPr>
        <p:spPr>
          <a:xfrm>
            <a:off x="9742018" y="2980944"/>
            <a:ext cx="16879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Disponibilidad, costos y cumplimiento al día.</a:t>
            </a:r>
            <a:endParaRPr lang="es-PE" sz="1070" dirty="0"/>
          </a:p>
        </p:txBody>
      </p:sp>
      <p:pic>
        <p:nvPicPr>
          <p:cNvPr id="67" name="Picture 66" descr="Vista de la interfaz: Dash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7329" y="3474720"/>
            <a:ext cx="1737360" cy="1146658"/>
          </a:xfrm>
          <a:prstGeom prst="rect">
            <a:avLst/>
          </a:prstGeom>
        </p:spPr>
      </p:pic>
      <p:sp>
        <p:nvSpPr>
          <p:cNvPr id="68" name="Line 68"/>
          <p:cNvSpPr/>
          <p:nvPr/>
        </p:nvSpPr>
        <p:spPr>
          <a:xfrm>
            <a:off x="9742018" y="4864608"/>
            <a:ext cx="1687982" cy="0"/>
          </a:xfrm>
          <a:prstGeom prst="line">
            <a:avLst/>
          </a:prstGeom>
          <a:noFill/>
          <a:ln w="8890">
            <a:solidFill>
              <a:srgbClr val="36785F"/>
            </a:solidFill>
            <a:prstDash val="solid"/>
          </a:ln>
        </p:spPr>
      </p:sp>
      <p:sp>
        <p:nvSpPr>
          <p:cNvPr id="69" name="Text 69"/>
          <p:cNvSpPr txBox="1"/>
          <p:nvPr/>
        </p:nvSpPr>
        <p:spPr>
          <a:xfrm>
            <a:off x="9742018" y="5001768"/>
            <a:ext cx="16879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830" b="1" spc="145" kern="0" dirty="0">
                <a:solidFill>
                  <a:srgbClr val="B8F0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RETROALIMENTA</a:t>
            </a:r>
            <a:endParaRPr lang="es-PE" sz="830" dirty="0"/>
          </a:p>
        </p:txBody>
      </p:sp>
      <p:sp>
        <p:nvSpPr>
          <p:cNvPr id="70" name="Text 70"/>
          <p:cNvSpPr txBox="1"/>
          <p:nvPr/>
        </p:nvSpPr>
        <p:spPr>
          <a:xfrm>
            <a:off x="9742018" y="521208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Ajusta el plan preventivo con el historial</a:t>
            </a:r>
            <a:endParaRPr lang="es-PE" sz="1200" dirty="0"/>
          </a:p>
        </p:txBody>
      </p:sp>
      <p:sp>
        <p:nvSpPr>
          <p:cNvPr id="71" name="Shape 71"/>
          <p:cNvSpPr/>
          <p:nvPr/>
        </p:nvSpPr>
        <p:spPr>
          <a:xfrm>
            <a:off x="594360" y="6016752"/>
            <a:ext cx="11000232" cy="356616"/>
          </a:xfrm>
          <a:prstGeom prst="roundRect">
            <a:avLst>
              <a:gd name="adj" fmla="val 25641"/>
            </a:avLst>
          </a:prstGeom>
          <a:solidFill>
            <a:srgbClr val="083D2D"/>
          </a:solidFill>
          <a:ln w="12700">
            <a:solidFill>
              <a:srgbClr val="083D2D">
                <a:alpha val="0"/>
              </a:srgbClr>
            </a:solidFill>
            <a:prstDash val="solid"/>
          </a:ln>
        </p:spPr>
      </p:sp>
      <p:sp>
        <p:nvSpPr>
          <p:cNvPr id="72" name="Text 72"/>
          <p:cNvSpPr txBox="1"/>
          <p:nvPr/>
        </p:nvSpPr>
        <p:spPr>
          <a:xfrm>
            <a:off x="777240" y="6099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80" b="1" spc="100" kern="0" dirty="0">
                <a:solidFill>
                  <a:srgbClr val="B8F0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SOLO REGISTRO</a:t>
            </a:r>
            <a:endParaRPr lang="es-PE" sz="980" dirty="0"/>
          </a:p>
        </p:txBody>
      </p:sp>
      <p:sp>
        <p:nvSpPr>
          <p:cNvPr id="73" name="Text 73"/>
          <p:cNvSpPr txBox="1"/>
          <p:nvPr/>
        </p:nvSpPr>
        <p:spPr>
          <a:xfrm>
            <a:off x="2743200" y="609447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el técnico registra en la OT actualiza stock, costos e indicadores al instante  ·  Sin Excel ni doble digitación</a:t>
            </a:r>
            <a:endParaRPr lang="es-PE" sz="1100" dirty="0"/>
          </a:p>
        </p:txBody>
      </p:sp>
      <p:sp>
        <p:nvSpPr>
          <p:cNvPr id="74" name="Text 74"/>
          <p:cNvSpPr txBox="1"/>
          <p:nvPr/>
        </p:nvSpPr>
        <p:spPr>
          <a:xfrm>
            <a:off x="4480560" y="6583680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8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 ilustrativas con datos de ejemplo</a:t>
            </a:r>
            <a:endParaRPr lang="es-PE" sz="830" dirty="0"/>
          </a:p>
        </p:txBody>
      </p:sp>
      <p:pic>
        <p:nvPicPr>
          <p:cNvPr id="75" name="Logo OnKaizen" descr="Logo OnKaize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73736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78963"/>
          </a:solidFill>
          <a:ln w="12700">
            <a:solidFill>
              <a:srgbClr val="0789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794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5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CLOUD</a:t>
            </a:r>
            <a:endParaRPr lang="en-US" sz="900" dirty="0"/>
          </a:p>
        </p:txBody>
      </p:sp>
      <p:sp>
        <p:nvSpPr>
          <p:cNvPr id="7" name="Shape 53"/>
          <p:cNvSpPr/>
          <p:nvPr/>
        </p:nvSpPr>
        <p:spPr>
          <a:xfrm>
            <a:off x="548640" y="6537960"/>
            <a:ext cx="11091672" cy="0"/>
          </a:xfrm>
          <a:prstGeom prst="line">
            <a:avLst/>
          </a:prstGeom>
          <a:noFill/>
          <a:ln w="10160">
            <a:solidFill>
              <a:srgbClr val="DDE9E2"/>
            </a:solidFill>
            <a:prstDash val="solid"/>
          </a:ln>
        </p:spPr>
      </p:sp>
      <p:sp>
        <p:nvSpPr>
          <p:cNvPr id="8" name="Text 54"/>
          <p:cNvSpPr/>
          <p:nvPr/>
        </p:nvSpPr>
        <p:spPr>
          <a:xfrm>
            <a:off x="585216" y="65836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COMERCIAL</a:t>
            </a:r>
            <a:endParaRPr lang="en-US" sz="830" dirty="0"/>
          </a:p>
        </p:txBody>
      </p:sp>
      <p:sp>
        <p:nvSpPr>
          <p:cNvPr id="9" name="Text 55"/>
          <p:cNvSpPr/>
          <p:nvPr/>
        </p:nvSpPr>
        <p:spPr>
          <a:xfrm>
            <a:off x="10853928" y="6574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06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94360" y="9326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40" b="1" spc="16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 PREVENTIVO</a:t>
            </a:r>
            <a:endParaRPr lang="es-PE" sz="1040" dirty="0"/>
          </a:p>
        </p:txBody>
      </p:sp>
      <p:sp>
        <p:nvSpPr>
          <p:cNvPr id="11" name="Text 11"/>
          <p:cNvSpPr txBox="1"/>
          <p:nvPr/>
        </p:nvSpPr>
        <p:spPr>
          <a:xfrm>
            <a:off x="585216" y="1271016"/>
            <a:ext cx="11000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27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 una vez. El sistema te avisa.</a:t>
            </a:r>
            <a:endParaRPr lang="es-PE" sz="2700" dirty="0"/>
          </a:p>
        </p:txBody>
      </p:sp>
      <p:sp>
        <p:nvSpPr>
          <p:cNvPr id="12" name="Text 12"/>
          <p:cNvSpPr txBox="1"/>
          <p:nvPr/>
        </p:nvSpPr>
        <p:spPr>
          <a:xfrm>
            <a:off x="603504" y="1819656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18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Planes por horómetro, kilometraje o calendario  ·  Vista mensual de toda la flota  ·  Alertas antes de cada vencimiento</a:t>
            </a:r>
            <a:endParaRPr lang="es-PE" sz="1180" dirty="0"/>
          </a:p>
        </p:txBody>
      </p:sp>
      <p:sp>
        <p:nvSpPr>
          <p:cNvPr id="13" name="Shape 13"/>
          <p:cNvSpPr/>
          <p:nvPr/>
        </p:nvSpPr>
        <p:spPr>
          <a:xfrm>
            <a:off x="594360" y="2240280"/>
            <a:ext cx="3017520" cy="932688"/>
          </a:xfrm>
          <a:prstGeom prst="roundRect">
            <a:avLst>
              <a:gd name="adj" fmla="val 12745"/>
            </a:avLst>
          </a:prstGeom>
          <a:solidFill>
            <a:srgbClr val="F4F8F5"/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768096" y="2423160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768096" y="243687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s-PE" sz="1400" dirty="0"/>
          </a:p>
        </p:txBody>
      </p:sp>
      <p:sp>
        <p:nvSpPr>
          <p:cNvPr id="16" name="Text 16"/>
          <p:cNvSpPr txBox="1"/>
          <p:nvPr/>
        </p:nvSpPr>
        <p:spPr>
          <a:xfrm>
            <a:off x="1243584" y="23957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Frecuencia flexible</a:t>
            </a:r>
            <a:endParaRPr lang="es-PE" sz="1310" dirty="0"/>
          </a:p>
        </p:txBody>
      </p:sp>
      <p:sp>
        <p:nvSpPr>
          <p:cNvPr id="17" name="Text 17"/>
          <p:cNvSpPr txBox="1"/>
          <p:nvPr/>
        </p:nvSpPr>
        <p:spPr>
          <a:xfrm>
            <a:off x="1243584" y="26609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250 h, 10 000 km o cada mes: tú defines el plan.</a:t>
            </a:r>
            <a:endParaRPr lang="es-PE" sz="1070" dirty="0"/>
          </a:p>
        </p:txBody>
      </p:sp>
      <p:sp>
        <p:nvSpPr>
          <p:cNvPr id="18" name="Shape 18"/>
          <p:cNvSpPr/>
          <p:nvPr/>
        </p:nvSpPr>
        <p:spPr>
          <a:xfrm>
            <a:off x="594360" y="3310128"/>
            <a:ext cx="3017520" cy="932688"/>
          </a:xfrm>
          <a:prstGeom prst="roundRect">
            <a:avLst>
              <a:gd name="adj" fmla="val 12745"/>
            </a:avLst>
          </a:prstGeom>
          <a:solidFill>
            <a:srgbClr val="F4F8F5"/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19" name="Shape 19"/>
          <p:cNvSpPr/>
          <p:nvPr/>
        </p:nvSpPr>
        <p:spPr>
          <a:xfrm>
            <a:off x="768096" y="3493008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768096" y="3506724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s-PE" sz="1400" dirty="0"/>
          </a:p>
        </p:txBody>
      </p:sp>
      <p:sp>
        <p:nvSpPr>
          <p:cNvPr id="21" name="Text 21"/>
          <p:cNvSpPr txBox="1"/>
          <p:nvPr/>
        </p:nvSpPr>
        <p:spPr>
          <a:xfrm>
            <a:off x="1243584" y="346557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 automática</a:t>
            </a:r>
            <a:endParaRPr lang="es-PE" sz="1310" dirty="0"/>
          </a:p>
        </p:txBody>
      </p:sp>
      <p:sp>
        <p:nvSpPr>
          <p:cNvPr id="22" name="Text 22"/>
          <p:cNvSpPr txBox="1"/>
          <p:nvPr/>
        </p:nvSpPr>
        <p:spPr>
          <a:xfrm>
            <a:off x="1243584" y="37307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vencer, la orden se crea y se asigna al técnico.</a:t>
            </a:r>
            <a:endParaRPr lang="es-PE" sz="1070" dirty="0"/>
          </a:p>
        </p:txBody>
      </p:sp>
      <p:sp>
        <p:nvSpPr>
          <p:cNvPr id="23" name="Shape 23"/>
          <p:cNvSpPr/>
          <p:nvPr/>
        </p:nvSpPr>
        <p:spPr>
          <a:xfrm>
            <a:off x="594360" y="4379976"/>
            <a:ext cx="3017520" cy="932688"/>
          </a:xfrm>
          <a:prstGeom prst="roundRect">
            <a:avLst>
              <a:gd name="adj" fmla="val 12745"/>
            </a:avLst>
          </a:prstGeom>
          <a:solidFill>
            <a:srgbClr val="F4F8F5"/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24" name="Shape 24"/>
          <p:cNvSpPr/>
          <p:nvPr/>
        </p:nvSpPr>
        <p:spPr>
          <a:xfrm>
            <a:off x="768096" y="4562856"/>
            <a:ext cx="338328" cy="338328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768096" y="4576572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4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s-PE" sz="1400" dirty="0"/>
          </a:p>
        </p:txBody>
      </p:sp>
      <p:sp>
        <p:nvSpPr>
          <p:cNvPr id="26" name="Text 26"/>
          <p:cNvSpPr txBox="1"/>
          <p:nvPr/>
        </p:nvSpPr>
        <p:spPr>
          <a:xfrm>
            <a:off x="1243584" y="45354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31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Alertas a tiempo</a:t>
            </a:r>
            <a:endParaRPr lang="es-PE" sz="1310" dirty="0"/>
          </a:p>
        </p:txBody>
      </p:sp>
      <p:sp>
        <p:nvSpPr>
          <p:cNvPr id="27" name="Text 27"/>
          <p:cNvSpPr txBox="1"/>
          <p:nvPr/>
        </p:nvSpPr>
        <p:spPr>
          <a:xfrm>
            <a:off x="1243584" y="4800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Avisos previos al vencimiento y vencidos en rojo.</a:t>
            </a:r>
            <a:endParaRPr lang="es-PE" sz="1070" dirty="0"/>
          </a:p>
        </p:txBody>
      </p:sp>
      <p:sp>
        <p:nvSpPr>
          <p:cNvPr id="28" name="Text 28"/>
          <p:cNvSpPr txBox="1"/>
          <p:nvPr/>
        </p:nvSpPr>
        <p:spPr>
          <a:xfrm>
            <a:off x="594360" y="5504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830" b="1" spc="145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DE COLORES</a:t>
            </a:r>
            <a:endParaRPr lang="es-PE" sz="830" dirty="0"/>
          </a:p>
        </p:txBody>
      </p:sp>
      <p:sp>
        <p:nvSpPr>
          <p:cNvPr id="29" name="Shape 29"/>
          <p:cNvSpPr/>
          <p:nvPr/>
        </p:nvSpPr>
        <p:spPr>
          <a:xfrm>
            <a:off x="594360" y="5820156"/>
            <a:ext cx="128016" cy="128016"/>
          </a:xfrm>
          <a:prstGeom prst="ellipse">
            <a:avLst/>
          </a:prstGeom>
          <a:solidFill>
            <a:srgbClr val="0F6B5C"/>
          </a:solidFill>
          <a:ln w="12700">
            <a:solidFill>
              <a:srgbClr val="0F6B5C">
                <a:alpha val="0"/>
              </a:srgbClr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795528" y="5788152"/>
            <a:ext cx="1280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Programado</a:t>
            </a:r>
            <a:endParaRPr lang="es-PE" sz="1000" dirty="0"/>
          </a:p>
        </p:txBody>
      </p:sp>
      <p:sp>
        <p:nvSpPr>
          <p:cNvPr id="31" name="Shape 31"/>
          <p:cNvSpPr/>
          <p:nvPr/>
        </p:nvSpPr>
        <p:spPr>
          <a:xfrm>
            <a:off x="2103120" y="5820156"/>
            <a:ext cx="128016" cy="128016"/>
          </a:xfrm>
          <a:prstGeom prst="ellipse">
            <a:avLst/>
          </a:prstGeom>
          <a:solidFill>
            <a:srgbClr val="B86E14"/>
          </a:solidFill>
          <a:ln w="12700">
            <a:solidFill>
              <a:srgbClr val="B86E14">
                <a:alpha val="0"/>
              </a:srgbClr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2304288" y="5788152"/>
            <a:ext cx="1280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a vencer</a:t>
            </a:r>
            <a:endParaRPr lang="es-PE" sz="1000" dirty="0"/>
          </a:p>
        </p:txBody>
      </p:sp>
      <p:sp>
        <p:nvSpPr>
          <p:cNvPr id="33" name="Shape 33"/>
          <p:cNvSpPr/>
          <p:nvPr/>
        </p:nvSpPr>
        <p:spPr>
          <a:xfrm>
            <a:off x="594360" y="6121908"/>
            <a:ext cx="128016" cy="128016"/>
          </a:xfrm>
          <a:prstGeom prst="ellipse">
            <a:avLst/>
          </a:prstGeom>
          <a:solidFill>
            <a:srgbClr val="C4314B"/>
          </a:solidFill>
          <a:ln w="12700">
            <a:solidFill>
              <a:srgbClr val="C4314B">
                <a:alpha val="0"/>
              </a:srgbClr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795528" y="6089904"/>
            <a:ext cx="1280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Vencido</a:t>
            </a:r>
            <a:endParaRPr lang="es-PE" sz="1000" dirty="0"/>
          </a:p>
        </p:txBody>
      </p:sp>
      <p:sp>
        <p:nvSpPr>
          <p:cNvPr id="35" name="Shape 35"/>
          <p:cNvSpPr/>
          <p:nvPr/>
        </p:nvSpPr>
        <p:spPr>
          <a:xfrm>
            <a:off x="2103120" y="6121908"/>
            <a:ext cx="128016" cy="12801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>
                <a:alpha val="0"/>
              </a:srgbClr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2304288" y="6089904"/>
            <a:ext cx="1280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0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Completado</a:t>
            </a:r>
            <a:endParaRPr lang="es-PE" sz="1000" dirty="0"/>
          </a:p>
        </p:txBody>
      </p:sp>
      <p:sp>
        <p:nvSpPr>
          <p:cNvPr id="37" name="Shape 37"/>
          <p:cNvSpPr/>
          <p:nvPr/>
        </p:nvSpPr>
        <p:spPr>
          <a:xfrm>
            <a:off x="3886200" y="2240280"/>
            <a:ext cx="7708392" cy="4114800"/>
          </a:xfrm>
          <a:prstGeom prst="roundRect">
            <a:avLst>
              <a:gd name="adj" fmla="val 4888"/>
            </a:avLst>
          </a:prstGeom>
          <a:solidFill>
            <a:srgbClr val="083D2D"/>
          </a:solidFill>
          <a:ln w="12700">
            <a:solidFill>
              <a:srgbClr val="083D2D">
                <a:alpha val="0"/>
              </a:srgbClr>
            </a:solidFill>
            <a:prstDash val="solid"/>
          </a:ln>
        </p:spPr>
      </p:sp>
      <p:pic>
        <p:nvPicPr>
          <p:cNvPr id="38" name="Picture 37" descr="Pantalla de mantenimiento preventivo: calendario mensual y próximos vencimient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485" y="2441448"/>
            <a:ext cx="7265822" cy="3712464"/>
          </a:xfrm>
          <a:prstGeom prst="rect">
            <a:avLst/>
          </a:prstGeom>
        </p:spPr>
      </p:pic>
      <p:sp>
        <p:nvSpPr>
          <p:cNvPr id="39" name="Text 39"/>
          <p:cNvSpPr txBox="1"/>
          <p:nvPr/>
        </p:nvSpPr>
        <p:spPr>
          <a:xfrm>
            <a:off x="4480560" y="6583680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8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 ilustrativas con datos de ejemplo</a:t>
            </a:r>
            <a:endParaRPr lang="es-PE" sz="830" dirty="0"/>
          </a:p>
        </p:txBody>
      </p:sp>
      <p:pic>
        <p:nvPicPr>
          <p:cNvPr id="40" name="Logo OnKaizen" descr="Logo OnKaiz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73736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78963"/>
          </a:solidFill>
          <a:ln w="12700">
            <a:solidFill>
              <a:srgbClr val="0789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794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5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CLOUD</a:t>
            </a:r>
            <a:endParaRPr lang="en-US" sz="900" dirty="0"/>
          </a:p>
        </p:txBody>
      </p:sp>
      <p:sp>
        <p:nvSpPr>
          <p:cNvPr id="7" name="Shape 53"/>
          <p:cNvSpPr/>
          <p:nvPr/>
        </p:nvSpPr>
        <p:spPr>
          <a:xfrm>
            <a:off x="548640" y="6537960"/>
            <a:ext cx="11091672" cy="0"/>
          </a:xfrm>
          <a:prstGeom prst="line">
            <a:avLst/>
          </a:prstGeom>
          <a:noFill/>
          <a:ln w="10160">
            <a:solidFill>
              <a:srgbClr val="DDE9E2"/>
            </a:solidFill>
            <a:prstDash val="solid"/>
          </a:ln>
        </p:spPr>
      </p:sp>
      <p:sp>
        <p:nvSpPr>
          <p:cNvPr id="8" name="Text 54"/>
          <p:cNvSpPr/>
          <p:nvPr/>
        </p:nvSpPr>
        <p:spPr>
          <a:xfrm>
            <a:off x="585216" y="65836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COMERCIAL</a:t>
            </a:r>
            <a:endParaRPr lang="en-US" sz="830" dirty="0"/>
          </a:p>
        </p:txBody>
      </p:sp>
      <p:sp>
        <p:nvSpPr>
          <p:cNvPr id="9" name="Text 55"/>
          <p:cNvSpPr/>
          <p:nvPr/>
        </p:nvSpPr>
        <p:spPr>
          <a:xfrm>
            <a:off x="10853928" y="6574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06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94360" y="9326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40" b="1" spc="16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 DE REPUESTOS</a:t>
            </a:r>
            <a:endParaRPr lang="es-PE" sz="1040" dirty="0"/>
          </a:p>
        </p:txBody>
      </p:sp>
      <p:sp>
        <p:nvSpPr>
          <p:cNvPr id="11" name="Text 11"/>
          <p:cNvSpPr txBox="1"/>
          <p:nvPr/>
        </p:nvSpPr>
        <p:spPr>
          <a:xfrm>
            <a:off x="585216" y="1271016"/>
            <a:ext cx="11000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27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sol invertido, trazado a su equipo.</a:t>
            </a:r>
            <a:endParaRPr lang="es-PE" sz="2700" dirty="0"/>
          </a:p>
        </p:txBody>
      </p:sp>
      <p:sp>
        <p:nvSpPr>
          <p:cNvPr id="12" name="Text 12"/>
          <p:cNvSpPr txBox="1"/>
          <p:nvPr/>
        </p:nvSpPr>
        <p:spPr>
          <a:xfrm>
            <a:off x="603504" y="1819656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18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real por orden de trabajo, por equipo y por repuesto  ·  Soles (S/.) con IGV 18%  ·  Exportable a Excel</a:t>
            </a:r>
            <a:endParaRPr lang="es-PE" sz="1180" dirty="0"/>
          </a:p>
        </p:txBody>
      </p:sp>
      <p:sp>
        <p:nvSpPr>
          <p:cNvPr id="13" name="Shape 13"/>
          <p:cNvSpPr/>
          <p:nvPr/>
        </p:nvSpPr>
        <p:spPr>
          <a:xfrm>
            <a:off x="594360" y="2240280"/>
            <a:ext cx="7708392" cy="4114800"/>
          </a:xfrm>
          <a:prstGeom prst="roundRect">
            <a:avLst>
              <a:gd name="adj" fmla="val 4000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pic>
        <p:nvPicPr>
          <p:cNvPr id="14" name="Picture 13" descr="Pantalla de costo de repuestos: indicadores, costo por equipo y consumo por 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331720"/>
            <a:ext cx="7543800" cy="3931920"/>
          </a:xfrm>
          <a:prstGeom prst="rect">
            <a:avLst/>
          </a:prstGeom>
        </p:spPr>
      </p:pic>
      <p:sp>
        <p:nvSpPr>
          <p:cNvPr id="15" name="Shape 15"/>
          <p:cNvSpPr/>
          <p:nvPr/>
        </p:nvSpPr>
        <p:spPr>
          <a:xfrm>
            <a:off x="8549640" y="2240280"/>
            <a:ext cx="3044952" cy="1261872"/>
          </a:xfrm>
          <a:prstGeom prst="roundRect">
            <a:avLst>
              <a:gd name="adj" fmla="val 13043"/>
            </a:avLst>
          </a:prstGeom>
          <a:solidFill>
            <a:srgbClr val="083D2D"/>
          </a:solidFill>
          <a:ln w="16510">
            <a:solidFill>
              <a:srgbClr val="078963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750808" y="2423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40" b="1" spc="100" kern="0" dirty="0">
                <a:solidFill>
                  <a:srgbClr val="B8F0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ORDEN DE TRABAJO</a:t>
            </a:r>
            <a:endParaRPr lang="es-PE" sz="1040" dirty="0"/>
          </a:p>
        </p:txBody>
      </p:sp>
      <p:sp>
        <p:nvSpPr>
          <p:cNvPr id="17" name="Text 17"/>
          <p:cNvSpPr txBox="1"/>
          <p:nvPr/>
        </p:nvSpPr>
        <p:spPr>
          <a:xfrm>
            <a:off x="8750808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 real de cada OT</a:t>
            </a:r>
            <a:endParaRPr lang="es-PE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8750808" y="30083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A8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Repuestos y cantidades se valorizan al cerrar la orden.</a:t>
            </a:r>
            <a:endParaRPr lang="es-PE" sz="1070" dirty="0"/>
          </a:p>
        </p:txBody>
      </p:sp>
      <p:sp>
        <p:nvSpPr>
          <p:cNvPr id="19" name="Shape 19"/>
          <p:cNvSpPr/>
          <p:nvPr/>
        </p:nvSpPr>
        <p:spPr>
          <a:xfrm>
            <a:off x="8549640" y="3666744"/>
            <a:ext cx="3044952" cy="1261872"/>
          </a:xfrm>
          <a:prstGeom prst="roundRect">
            <a:avLst>
              <a:gd name="adj" fmla="val 13043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8750808" y="38496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40" b="1" spc="100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EQUIPO</a:t>
            </a:r>
            <a:endParaRPr lang="es-PE" sz="1040" dirty="0"/>
          </a:p>
        </p:txBody>
      </p:sp>
      <p:sp>
        <p:nvSpPr>
          <p:cNvPr id="21" name="Text 21"/>
          <p:cNvSpPr txBox="1"/>
          <p:nvPr/>
        </p:nvSpPr>
        <p:spPr>
          <a:xfrm>
            <a:off x="8750808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5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máquina cuesta más?</a:t>
            </a:r>
            <a:endParaRPr lang="es-PE" sz="1500" dirty="0"/>
          </a:p>
        </p:txBody>
      </p:sp>
      <p:sp>
        <p:nvSpPr>
          <p:cNvPr id="22" name="Text 22"/>
          <p:cNvSpPr txBox="1"/>
          <p:nvPr/>
        </p:nvSpPr>
        <p:spPr>
          <a:xfrm>
            <a:off x="8750808" y="44348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mensual para decidir si reparar o renovar.</a:t>
            </a:r>
            <a:endParaRPr lang="es-PE" sz="1070" dirty="0"/>
          </a:p>
        </p:txBody>
      </p:sp>
      <p:sp>
        <p:nvSpPr>
          <p:cNvPr id="23" name="Shape 23"/>
          <p:cNvSpPr/>
          <p:nvPr/>
        </p:nvSpPr>
        <p:spPr>
          <a:xfrm>
            <a:off x="8549640" y="5093208"/>
            <a:ext cx="3044952" cy="1261872"/>
          </a:xfrm>
          <a:prstGeom prst="roundRect">
            <a:avLst>
              <a:gd name="adj" fmla="val 13043"/>
            </a:avLst>
          </a:prstGeom>
          <a:solidFill>
            <a:srgbClr val="F4F8F5"/>
          </a:solidFill>
          <a:ln w="8890">
            <a:solidFill>
              <a:srgbClr val="DDE9E2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750808" y="52760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40" b="1" spc="100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INVENTARIO</a:t>
            </a:r>
            <a:endParaRPr lang="es-PE" sz="1040" dirty="0"/>
          </a:p>
        </p:txBody>
      </p:sp>
      <p:sp>
        <p:nvSpPr>
          <p:cNvPr id="25" name="Text 25"/>
          <p:cNvSpPr txBox="1"/>
          <p:nvPr/>
        </p:nvSpPr>
        <p:spPr>
          <a:xfrm>
            <a:off x="8750808" y="5522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5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Almacén valorizado</a:t>
            </a:r>
            <a:endParaRPr lang="es-PE" sz="1500" dirty="0"/>
          </a:p>
        </p:txBody>
      </p:sp>
      <p:sp>
        <p:nvSpPr>
          <p:cNvPr id="26" name="Text 26"/>
          <p:cNvSpPr txBox="1"/>
          <p:nvPr/>
        </p:nvSpPr>
        <p:spPr>
          <a:xfrm>
            <a:off x="8750808" y="58613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07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× costo unitario, con alertas de stock mínimo.</a:t>
            </a:r>
            <a:endParaRPr lang="es-PE" sz="1070" dirty="0"/>
          </a:p>
        </p:txBody>
      </p:sp>
      <p:sp>
        <p:nvSpPr>
          <p:cNvPr id="27" name="Text 27"/>
          <p:cNvSpPr txBox="1"/>
          <p:nvPr/>
        </p:nvSpPr>
        <p:spPr>
          <a:xfrm>
            <a:off x="4480560" y="6583680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8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 ilustrativas con datos de ejemplo</a:t>
            </a:r>
            <a:endParaRPr lang="es-PE" sz="830" dirty="0"/>
          </a:p>
        </p:txBody>
      </p:sp>
      <p:pic>
        <p:nvPicPr>
          <p:cNvPr id="28" name="Logo OnKaizen" descr="Logo OnKaiz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73736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78963"/>
          </a:solidFill>
          <a:ln w="12700">
            <a:solidFill>
              <a:srgbClr val="0789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794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5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CLOUD</a:t>
            </a:r>
            <a:endParaRPr lang="en-US" sz="900" dirty="0"/>
          </a:p>
        </p:txBody>
      </p:sp>
      <p:sp>
        <p:nvSpPr>
          <p:cNvPr id="7" name="Shape 53"/>
          <p:cNvSpPr/>
          <p:nvPr/>
        </p:nvSpPr>
        <p:spPr>
          <a:xfrm>
            <a:off x="548640" y="6537960"/>
            <a:ext cx="11091672" cy="0"/>
          </a:xfrm>
          <a:prstGeom prst="line">
            <a:avLst/>
          </a:prstGeom>
          <a:noFill/>
          <a:ln w="10160">
            <a:solidFill>
              <a:srgbClr val="DDE9E2"/>
            </a:solidFill>
            <a:prstDash val="solid"/>
          </a:ln>
        </p:spPr>
      </p:sp>
      <p:sp>
        <p:nvSpPr>
          <p:cNvPr id="8" name="Text 54"/>
          <p:cNvSpPr/>
          <p:nvPr/>
        </p:nvSpPr>
        <p:spPr>
          <a:xfrm>
            <a:off x="585216" y="65836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COMERCIAL</a:t>
            </a:r>
            <a:endParaRPr lang="en-US" sz="830" dirty="0"/>
          </a:p>
        </p:txBody>
      </p:sp>
      <p:sp>
        <p:nvSpPr>
          <p:cNvPr id="9" name="Text 55"/>
          <p:cNvSpPr/>
          <p:nvPr/>
        </p:nvSpPr>
        <p:spPr>
          <a:xfrm>
            <a:off x="10853928" y="6574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7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/ 06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94360" y="9326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040" b="1" spc="16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s-PE" sz="1040" dirty="0"/>
          </a:p>
        </p:txBody>
      </p:sp>
      <p:sp>
        <p:nvSpPr>
          <p:cNvPr id="11" name="Text 11"/>
          <p:cNvSpPr txBox="1"/>
          <p:nvPr/>
        </p:nvSpPr>
        <p:spPr>
          <a:xfrm>
            <a:off x="585216" y="12710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27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 operación, en una sola pantalla.</a:t>
            </a:r>
            <a:endParaRPr lang="es-PE" sz="2700" dirty="0"/>
          </a:p>
        </p:txBody>
      </p:sp>
      <p:sp>
        <p:nvSpPr>
          <p:cNvPr id="12" name="Text 12"/>
          <p:cNvSpPr txBox="1"/>
          <p:nvPr/>
        </p:nvSpPr>
        <p:spPr>
          <a:xfrm>
            <a:off x="603504" y="22860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s-PE" sz="118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en vivo calculados desde las órdenes de trabajo. Filtra por mes y sede.</a:t>
            </a:r>
            <a:endParaRPr lang="es-PE" sz="1180" dirty="0"/>
          </a:p>
        </p:txBody>
      </p:sp>
      <p:sp>
        <p:nvSpPr>
          <p:cNvPr id="13" name="Text 13"/>
          <p:cNvSpPr txBox="1"/>
          <p:nvPr/>
        </p:nvSpPr>
        <p:spPr>
          <a:xfrm>
            <a:off x="594360" y="31272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830" b="1" spc="145" kern="0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NUEVO EN EL DASHBOARD</a:t>
            </a:r>
            <a:endParaRPr lang="es-PE" sz="830" dirty="0"/>
          </a:p>
        </p:txBody>
      </p:sp>
      <p:sp>
        <p:nvSpPr>
          <p:cNvPr id="14" name="Shape 14"/>
          <p:cNvSpPr/>
          <p:nvPr/>
        </p:nvSpPr>
        <p:spPr>
          <a:xfrm>
            <a:off x="612648" y="3483864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612648" y="349300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1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s-PE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941832" y="3429000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Disponibilidad de flota</a:t>
            </a:r>
            <a:endParaRPr lang="es-PE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941832" y="3648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5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de equipos operativos</a:t>
            </a:r>
            <a:endParaRPr lang="es-PE" sz="950" dirty="0"/>
          </a:p>
        </p:txBody>
      </p:sp>
      <p:sp>
        <p:nvSpPr>
          <p:cNvPr id="18" name="Shape 18"/>
          <p:cNvSpPr/>
          <p:nvPr/>
        </p:nvSpPr>
        <p:spPr>
          <a:xfrm>
            <a:off x="612648" y="3959352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612648" y="396849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1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s-PE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941832" y="390448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Cumplimiento preventivo</a:t>
            </a:r>
            <a:endParaRPr lang="es-PE" sz="1200" dirty="0"/>
          </a:p>
        </p:txBody>
      </p:sp>
      <p:sp>
        <p:nvSpPr>
          <p:cNvPr id="21" name="Text 21"/>
          <p:cNvSpPr txBox="1"/>
          <p:nvPr/>
        </p:nvSpPr>
        <p:spPr>
          <a:xfrm>
            <a:off x="941832" y="41239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5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ejecutados a tiempo</a:t>
            </a:r>
            <a:endParaRPr lang="es-PE" sz="950" dirty="0"/>
          </a:p>
        </p:txBody>
      </p:sp>
      <p:sp>
        <p:nvSpPr>
          <p:cNvPr id="22" name="Shape 22"/>
          <p:cNvSpPr/>
          <p:nvPr/>
        </p:nvSpPr>
        <p:spPr>
          <a:xfrm>
            <a:off x="612648" y="4434840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612648" y="4443984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1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s-PE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941832" y="4379976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 de mantenimiento</a:t>
            </a:r>
            <a:endParaRPr lang="es-PE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941832" y="45994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5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 actual vs. anterior</a:t>
            </a:r>
            <a:endParaRPr lang="es-PE" sz="950" dirty="0"/>
          </a:p>
        </p:txBody>
      </p:sp>
      <p:sp>
        <p:nvSpPr>
          <p:cNvPr id="26" name="Shape 26"/>
          <p:cNvSpPr/>
          <p:nvPr/>
        </p:nvSpPr>
        <p:spPr>
          <a:xfrm>
            <a:off x="612648" y="4910328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612648" y="4919472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1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s-PE" sz="1100" dirty="0"/>
          </a:p>
        </p:txBody>
      </p:sp>
      <p:sp>
        <p:nvSpPr>
          <p:cNvPr id="28" name="Text 28"/>
          <p:cNvSpPr txBox="1"/>
          <p:nvPr/>
        </p:nvSpPr>
        <p:spPr>
          <a:xfrm>
            <a:off x="941832" y="485546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Preventivo vs. correctivo</a:t>
            </a:r>
            <a:endParaRPr lang="es-PE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941832" y="50749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5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 de 6 meses</a:t>
            </a:r>
            <a:endParaRPr lang="es-PE" sz="950" dirty="0"/>
          </a:p>
        </p:txBody>
      </p:sp>
      <p:sp>
        <p:nvSpPr>
          <p:cNvPr id="30" name="Shape 30"/>
          <p:cNvSpPr/>
          <p:nvPr/>
        </p:nvSpPr>
        <p:spPr>
          <a:xfrm>
            <a:off x="612648" y="5385816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612648" y="5394960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1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s-PE" sz="1100" dirty="0"/>
          </a:p>
        </p:txBody>
      </p:sp>
      <p:sp>
        <p:nvSpPr>
          <p:cNvPr id="32" name="Text 32"/>
          <p:cNvSpPr txBox="1"/>
          <p:nvPr/>
        </p:nvSpPr>
        <p:spPr>
          <a:xfrm>
            <a:off x="941832" y="533095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 por equipo</a:t>
            </a:r>
            <a:endParaRPr lang="es-PE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941832" y="5550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5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del mes</a:t>
            </a:r>
            <a:endParaRPr lang="es-PE" sz="950" dirty="0"/>
          </a:p>
        </p:txBody>
      </p:sp>
      <p:sp>
        <p:nvSpPr>
          <p:cNvPr id="34" name="Shape 34"/>
          <p:cNvSpPr/>
          <p:nvPr/>
        </p:nvSpPr>
        <p:spPr>
          <a:xfrm>
            <a:off x="612648" y="5861304"/>
            <a:ext cx="228600" cy="228600"/>
          </a:xfrm>
          <a:prstGeom prst="ellipse">
            <a:avLst/>
          </a:prstGeom>
          <a:solidFill>
            <a:srgbClr val="E4F4EB"/>
          </a:solidFill>
          <a:ln w="12700">
            <a:solidFill>
              <a:srgbClr val="E4F4EB">
                <a:alpha val="0"/>
              </a:srgbClr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12648" y="587044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1100" b="1" dirty="0">
                <a:solidFill>
                  <a:srgbClr val="0789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s-PE" sz="1100" dirty="0"/>
          </a:p>
        </p:txBody>
      </p:sp>
      <p:sp>
        <p:nvSpPr>
          <p:cNvPr id="36" name="Text 36"/>
          <p:cNvSpPr txBox="1"/>
          <p:nvPr/>
        </p:nvSpPr>
        <p:spPr>
          <a:xfrm>
            <a:off x="941832" y="5806440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1200" b="1" dirty="0">
                <a:solidFill>
                  <a:srgbClr val="083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Stock crítico</a:t>
            </a:r>
            <a:endParaRPr lang="es-PE" sz="1200" dirty="0"/>
          </a:p>
        </p:txBody>
      </p:sp>
      <p:sp>
        <p:nvSpPr>
          <p:cNvPr id="37" name="Text 37"/>
          <p:cNvSpPr txBox="1"/>
          <p:nvPr/>
        </p:nvSpPr>
        <p:spPr>
          <a:xfrm>
            <a:off x="941832" y="60258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PE" sz="95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Repuestos bajo mínimo</a:t>
            </a:r>
            <a:endParaRPr lang="es-PE" sz="950" dirty="0"/>
          </a:p>
        </p:txBody>
      </p:sp>
      <p:sp>
        <p:nvSpPr>
          <p:cNvPr id="38" name="Shape 38"/>
          <p:cNvSpPr/>
          <p:nvPr/>
        </p:nvSpPr>
        <p:spPr>
          <a:xfrm>
            <a:off x="3931920" y="932688"/>
            <a:ext cx="7662672" cy="5422392"/>
          </a:xfrm>
          <a:prstGeom prst="roundRect">
            <a:avLst>
              <a:gd name="adj" fmla="val 4384"/>
            </a:avLst>
          </a:prstGeom>
          <a:solidFill>
            <a:srgbClr val="083D2D"/>
          </a:solidFill>
          <a:ln w="12700">
            <a:solidFill>
              <a:srgbClr val="083D2D">
                <a:alpha val="0"/>
              </a:srgbClr>
            </a:solidFill>
            <a:prstDash val="solid"/>
          </a:ln>
        </p:spPr>
      </p:sp>
      <p:sp>
        <p:nvSpPr>
          <p:cNvPr id="39" name="Shape 39"/>
          <p:cNvSpPr/>
          <p:nvPr/>
        </p:nvSpPr>
        <p:spPr>
          <a:xfrm>
            <a:off x="9921240" y="566928"/>
            <a:ext cx="2468880" cy="2331720"/>
          </a:xfrm>
          <a:prstGeom prst="ellipse">
            <a:avLst/>
          </a:prstGeom>
          <a:solidFill>
            <a:srgbClr val="07513C">
              <a:alpha val="72000"/>
            </a:srgbClr>
          </a:solidFill>
          <a:ln w="12700">
            <a:solidFill>
              <a:srgbClr val="07513C">
                <a:alpha val="0"/>
              </a:srgbClr>
            </a:solidFill>
            <a:prstDash val="solid"/>
          </a:ln>
        </p:spPr>
      </p:sp>
      <p:pic>
        <p:nvPicPr>
          <p:cNvPr id="40" name="Picture 39" descr="Dashboard enriquecido: KPIs, preventivo vs correctivo, costos, próximos preventivos y stock críti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61288"/>
            <a:ext cx="7205472" cy="4965192"/>
          </a:xfrm>
          <a:prstGeom prst="rect">
            <a:avLst/>
          </a:prstGeom>
        </p:spPr>
      </p:pic>
      <p:sp>
        <p:nvSpPr>
          <p:cNvPr id="41" name="Text 41"/>
          <p:cNvSpPr txBox="1"/>
          <p:nvPr/>
        </p:nvSpPr>
        <p:spPr>
          <a:xfrm>
            <a:off x="4480560" y="6583680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PE" sz="830" dirty="0">
                <a:solidFill>
                  <a:srgbClr val="55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 ilustrativas con datos de ejemplo</a:t>
            </a:r>
            <a:endParaRPr lang="es-PE" sz="830" dirty="0"/>
          </a:p>
        </p:txBody>
      </p:sp>
      <p:pic>
        <p:nvPicPr>
          <p:cNvPr id="42" name="Logo OnKaizen" descr="Logo OnKaiz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73736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OnKaizen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OnKaizen Maintenance Cloud | Propuesta Comercial</dc:title>
  <dc:subject>Propuesta comercial para sistema de mantenimiento en la nube</dc:subject>
  <dc:creator>OnKaizen</dc:creator>
  <cp:lastModifiedBy>OnKaizen</cp:lastModifiedBy>
  <cp:revision>1</cp:revision>
  <dcterms:created xsi:type="dcterms:W3CDTF">2026-10-20T18:25:41Z</dcterms:created>
  <dcterms:modified xsi:type="dcterms:W3CDTF">2026-10-20T18:25:41Z</dcterms:modified>
</cp:coreProperties>
</file>